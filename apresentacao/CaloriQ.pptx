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9f19c45b8e4d43" /><Relationship Type="http://schemas.openxmlformats.org/officeDocument/2006/relationships/extended-properties" Target="/docProps/app.xml" Id="Rb41f7c0f539a4143" /><Relationship Type="http://schemas.openxmlformats.org/officeDocument/2006/relationships/officeDocument" Target="/ppt/presentation.xml" Id="Rd122b1698cf341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b4e8cb41f2496b"/>
  </p:sldMasterIdLst>
  <p:notesMasterIdLst>
    <p:notesMasterId xmlns:r="http://schemas.openxmlformats.org/officeDocument/2006/relationships" r:id="R54e819d8b31c41b0"/>
  </p:notesMasterIdLst>
  <p:sldIdLst>
    <p:sldId xmlns:r="http://schemas.openxmlformats.org/officeDocument/2006/relationships" id="256" r:id="R1f692e2d5572498f"/>
    <p:sldId xmlns:r="http://schemas.openxmlformats.org/officeDocument/2006/relationships" id="257" r:id="Re410983bdea74427"/>
    <p:sldId xmlns:r="http://schemas.openxmlformats.org/officeDocument/2006/relationships" id="258" r:id="R39a78a34e5704146"/>
    <p:sldId xmlns:r="http://schemas.openxmlformats.org/officeDocument/2006/relationships" id="259" r:id="R03589a5f76ee4e82"/>
    <p:sldId xmlns:r="http://schemas.openxmlformats.org/officeDocument/2006/relationships" id="260" r:id="R64e01c3b02cc43c7"/>
    <p:sldId xmlns:r="http://schemas.openxmlformats.org/officeDocument/2006/relationships" id="261" r:id="R1c98c65114c24d12"/>
    <p:sldId xmlns:r="http://schemas.openxmlformats.org/officeDocument/2006/relationships" id="262" r:id="Rb77fa13b10504ff6"/>
    <p:sldId xmlns:r="http://schemas.openxmlformats.org/officeDocument/2006/relationships" id="263" r:id="R3170d1fb15b54133"/>
    <p:sldId xmlns:r="http://schemas.openxmlformats.org/officeDocument/2006/relationships" id="264" r:id="Rb94d4e5c102b409f"/>
    <p:sldId xmlns:r="http://schemas.openxmlformats.org/officeDocument/2006/relationships" id="265" r:id="R2d000ef5a6e340e9"/>
    <p:sldId xmlns:r="http://schemas.openxmlformats.org/officeDocument/2006/relationships" id="266" r:id="Rc895c4af84244b10"/>
    <p:sldId xmlns:r="http://schemas.openxmlformats.org/officeDocument/2006/relationships" id="267" r:id="R6d4cbe56644d45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ab710b59c74ea4" /><Relationship Type="http://schemas.openxmlformats.org/officeDocument/2006/relationships/slideMaster" Target="/ppt/slideMasters/slideMaster1.xml" Id="Rafb4e8cb41f2496b" /><Relationship Type="http://schemas.openxmlformats.org/officeDocument/2006/relationships/notesMaster" Target="/ppt/notesMasters/notesMaster1.xml" Id="R54e819d8b31c41b0" /><Relationship Type="http://schemas.openxmlformats.org/officeDocument/2006/relationships/presProps" Target="/ppt/presProps.xml" Id="R762b02e0f78d401c" /><Relationship Type="http://schemas.openxmlformats.org/officeDocument/2006/relationships/tableStyles" Target="/ppt/tableStyles.xml" Id="R0f0fb64fae454015" /><Relationship Type="http://schemas.openxmlformats.org/officeDocument/2006/relationships/slide" Target="/ppt/slides/slide1.xml" Id="R1f692e2d5572498f" /><Relationship Type="http://schemas.openxmlformats.org/officeDocument/2006/relationships/slide" Target="/ppt/slides/slide2.xml" Id="Re410983bdea74427" /><Relationship Type="http://schemas.openxmlformats.org/officeDocument/2006/relationships/slide" Target="/ppt/slides/slide3.xml" Id="R39a78a34e5704146" /><Relationship Type="http://schemas.openxmlformats.org/officeDocument/2006/relationships/slide" Target="/ppt/slides/slide4.xml" Id="R03589a5f76ee4e82" /><Relationship Type="http://schemas.openxmlformats.org/officeDocument/2006/relationships/slide" Target="/ppt/slides/slide5.xml" Id="R64e01c3b02cc43c7" /><Relationship Type="http://schemas.openxmlformats.org/officeDocument/2006/relationships/slide" Target="/ppt/slides/slide6.xml" Id="R1c98c65114c24d12" /><Relationship Type="http://schemas.openxmlformats.org/officeDocument/2006/relationships/slide" Target="/ppt/slides/slide7.xml" Id="Rb77fa13b10504ff6" /><Relationship Type="http://schemas.openxmlformats.org/officeDocument/2006/relationships/slide" Target="/ppt/slides/slide8.xml" Id="R3170d1fb15b54133" /><Relationship Type="http://schemas.openxmlformats.org/officeDocument/2006/relationships/slide" Target="/ppt/slides/slide9.xml" Id="Rb94d4e5c102b409f" /><Relationship Type="http://schemas.openxmlformats.org/officeDocument/2006/relationships/slide" Target="/ppt/slides/slide10.xml" Id="R2d000ef5a6e340e9" /><Relationship Type="http://schemas.openxmlformats.org/officeDocument/2006/relationships/slide" Target="/ppt/slides/slide11.xml" Id="Rc895c4af84244b10" /><Relationship Type="http://schemas.openxmlformats.org/officeDocument/2006/relationships/slide" Target="/ppt/slides/slide12.xml" Id="R6d4cbe56644d45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2f5d3ed251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eb1a553ca943c4" /><Relationship Type="http://schemas.openxmlformats.org/officeDocument/2006/relationships/notesMaster" Target="/ppt/notesMasters/notesMaster1.xml" Id="R426339306b8a4c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457788258b4846" /><Relationship Type="http://schemas.openxmlformats.org/officeDocument/2006/relationships/notesMaster" Target="/ppt/notesMasters/notesMaster1.xml" Id="R01f29221bcc845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8d3d7a5b604108" /><Relationship Type="http://schemas.openxmlformats.org/officeDocument/2006/relationships/notesMaster" Target="/ppt/notesMasters/notesMaster1.xml" Id="Rae85cc973494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678e17724749d3" /><Relationship Type="http://schemas.openxmlformats.org/officeDocument/2006/relationships/notesMaster" Target="/ppt/notesMasters/notesMaster1.xml" Id="R3a5a9cce8b8d47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4238e796e64475" /><Relationship Type="http://schemas.openxmlformats.org/officeDocument/2006/relationships/notesMaster" Target="/ppt/notesMasters/notesMaster1.xml" Id="Ra73840332f784b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6cfadedb564866" /><Relationship Type="http://schemas.openxmlformats.org/officeDocument/2006/relationships/notesMaster" Target="/ppt/notesMasters/notesMaster1.xml" Id="Rc1887858da9e4e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7a34e4473140ea" /><Relationship Type="http://schemas.openxmlformats.org/officeDocument/2006/relationships/notesMaster" Target="/ppt/notesMasters/notesMaster1.xml" Id="Read31ce769c94e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ecf3952f81431c" /><Relationship Type="http://schemas.openxmlformats.org/officeDocument/2006/relationships/notesMaster" Target="/ppt/notesMasters/notesMaster1.xml" Id="R04abca2701064f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84e1e61816408c" /><Relationship Type="http://schemas.openxmlformats.org/officeDocument/2006/relationships/notesMaster" Target="/ppt/notesMasters/notesMaster1.xml" Id="R088c124cdb3049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d19850943146bc" /><Relationship Type="http://schemas.openxmlformats.org/officeDocument/2006/relationships/notesMaster" Target="/ppt/notesMasters/notesMaster1.xml" Id="Re9feb57690ab4a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e1fb0836524cdf" /><Relationship Type="http://schemas.openxmlformats.org/officeDocument/2006/relationships/notesMaster" Target="/ppt/notesMasters/notesMaster1.xml" Id="R1cbb4a72418040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1d1d17f07f4f6d" /><Relationship Type="http://schemas.openxmlformats.org/officeDocument/2006/relationships/notesMaster" Target="/ppt/notesMasters/notesMaster1.xml" Id="R2275f2b529b84d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Abertura, 30 segundos. O CaloriQ é um aplicativo de acompanhamento alimentar que reúne registro de refeições, estimativas por imagem e acompanhamento de metas. A proposta é facilitar o registro e ajudar a pessoa a visualizar sua rotina alimentar.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README.md; src/context/ThemeContext.tsx; assets/images/caloriq-ai-mascot.png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Contexto, 40 segundos. Explique o problema que motivou o projeto: o trabalho envolvido em registrar cada refeição e consultar o histórico. Esta é a hipótese de produto que orienta o aplicativo, não uma conclusão de pesquisa com usuários. A proposta é reduzir etapas e concentrar as informações em uma experiência só.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README.md; app/(tabs)/index.tsx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Mostre a tela inicial e explique como o usuário consulta o consumo do dia e registra água. Os números exibidos nesta apresentação são fictícios e ilustram a interface real. O banco guarda os registros por conta.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app/(tabs)/index.tsx; src/context/AppStateContext.tsx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segundos. Explique as formas de entrada: câmera no celular, webcam na web e imagem da galeria. A integração com Gemini passa pelo backend. A análise depende de conectividade, configuração e disponibilidade do serviço. No modo de demonstração, os resultados são locais e precisam ser apresentados como simulados.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app/(tabs)/scanner.tsx; src/services/gemini.ts; server/gemini.js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segundos. Uma foto não permite medir com precisão todos os ingredientes ou quantidades. Por isso, o usuário pode revisar o resultado e editar a refeição. Não prometa precisão clínica. Os valores da tela são um exemplo de apresentação, não uma análise real executada neste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app/(modals)/meal-result.tsx; app/(modals)/meal-edit.tsx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O cadastro reúne informações de perfil, nível de atividade e objetivo. O projeto usa esses dados para calcular metas e permite atualizar o perfil. Apresente isso como funcionalidade de acompanhamento do protótipo, sem prometer resultados de saúde.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app/(tabs)/goals.tsx; src/utils/nutrition.ts; server/nutrition.js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A tela de análise agrega os registros do usuário em diferentes períodos. Explique que o acompanhamento depende da qualidade e da continuidade dos registros. Não há métricas de adesão de usuários reais nesta apresentação.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app/(tabs)/analytics.tsx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segundos. O assistente complementa o registro por imagem. A conversa usa a integração com Gemini e conserva o histórico da conversa para dar continuidade ao diálogo. O papel apresentado é informativo, sem afirmar que substitui acompanhamento profissional.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app/(modals)/ai-chat.tsx; src/services/gemini.ts; server/gemini.js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 segundos. O aplicativo chama a API. A API autentica a conta, acessa o PostgreSQL e faz as chamadas ao Gemini. O cliente não acessa o banco diretamente. A documentação prevê Render para API, Supabase para PostgreSQL e Expo EAS para APK. Essa configuração documentada não é prova de que a implantação esteja 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package.json; server/index.js; server/schema.sql; NUVEM_E_APK.md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segundos. Explique os mecanismos presentes no código: hash de senha com scrypt e salt, tokens de sessão e associação dos dados à conta. Não apresente isso como auditoria de segurança ou certificação. Antes de publicar, a configuração de ambiente precisa preservar os segredos no servidor.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server/auth.js; server/schema.sql; server/index.js; SECURITY.md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segundos. Distinguir implementação de validação. O repositório contém os fluxos descritos e configurações para distribuição. Ainda é necessário comprovar qualidade das estimativas, experiência de uso e operação no ambiente final. Os itens da direita são propostas de evolução, não tarefas já concluídas nem um cronograma aprovado.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README.md; app/; server/; NUVEM_E_APK.md; eas.json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e demonstração, 60 a 90 segundos. Demonstre uma imagem, abra o resultado, revise um ingrediente e mostre a refeição no diário. Antes da apresentação, confirme login e conectividade. Se usar o modo de demonstração, anuncie explicitamente que a IA usa dados locais. Se a conexão falhar, use as telas desta apresentação para explicar o fluxo. Conclua retomando o objetivo: tornar o registro alimentar mais simples e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projeto: app/(tabs)/scanner.tsx; app/(modals)/meal-result.tsx; APRESENTACAO.md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f547180a747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758cbd96514e83" /><Relationship Type="http://schemas.openxmlformats.org/officeDocument/2006/relationships/slideLayout" Target="/ppt/slideLayouts/slideLayout1.xml" Id="Rb2cd11c1b7ce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cd11c1b7ce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6e1c21c454567" /><Relationship Type="http://schemas.openxmlformats.org/officeDocument/2006/relationships/image" Target="/ppt/media/image.png" Id="Rf2693e1dcf014ac8" /><Relationship Type="http://schemas.openxmlformats.org/officeDocument/2006/relationships/notesSlide" Target="/ppt/notesSlides/notesSlide1.xml" Id="R0a9377dd39e741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5bbce5f234177" /><Relationship Type="http://schemas.openxmlformats.org/officeDocument/2006/relationships/notesSlide" Target="/ppt/notesSlides/notesSlide2.xml" Id="Racc24095e6ab4b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5607f939140cf" /><Relationship Type="http://schemas.openxmlformats.org/officeDocument/2006/relationships/image" Target="/ppt/media/image2.png" Id="Rdd76cd5697c34789" /><Relationship Type="http://schemas.openxmlformats.org/officeDocument/2006/relationships/notesSlide" Target="/ppt/notesSlides/notesSlide3.xml" Id="R2a9d20291de14d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249dfaa4a43ae" /><Relationship Type="http://schemas.openxmlformats.org/officeDocument/2006/relationships/image" Target="/ppt/media/image3.png" Id="Rdbf9ebf866d74b26" /><Relationship Type="http://schemas.openxmlformats.org/officeDocument/2006/relationships/notesSlide" Target="/ppt/notesSlides/notesSlide4.xml" Id="Re42701ac9d9f4d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844b0352144ce" /><Relationship Type="http://schemas.openxmlformats.org/officeDocument/2006/relationships/image" Target="/ppt/media/image4.png" Id="R2a3f8efdb88a49cd" /><Relationship Type="http://schemas.openxmlformats.org/officeDocument/2006/relationships/notesSlide" Target="/ppt/notesSlides/notesSlide5.xml" Id="Rbed90777766c4a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1d13a76484847" /><Relationship Type="http://schemas.openxmlformats.org/officeDocument/2006/relationships/image" Target="/ppt/media/image5.png" Id="R3a1ae5700ea44da0" /><Relationship Type="http://schemas.openxmlformats.org/officeDocument/2006/relationships/notesSlide" Target="/ppt/notesSlides/notesSlide6.xml" Id="R71cdd7c7c2a643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1194f345946fe" /><Relationship Type="http://schemas.openxmlformats.org/officeDocument/2006/relationships/image" Target="/ppt/media/image6.png" Id="R5be812ea6af04328" /><Relationship Type="http://schemas.openxmlformats.org/officeDocument/2006/relationships/notesSlide" Target="/ppt/notesSlides/notesSlide7.xml" Id="Rdefe0a6769ec44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7bdb603bf4def" /><Relationship Type="http://schemas.openxmlformats.org/officeDocument/2006/relationships/image" Target="/ppt/media/image7.png" Id="Rd28b3caf0ebd4b7b" /><Relationship Type="http://schemas.openxmlformats.org/officeDocument/2006/relationships/notesSlide" Target="/ppt/notesSlides/notesSlide8.xml" Id="Rc3f9abfeed314e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f0826fd2f430e" /><Relationship Type="http://schemas.openxmlformats.org/officeDocument/2006/relationships/notesSlide" Target="/ppt/notesSlides/notesSlide9.xml" Id="Rc06b6eebb0354a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1cd5b5d24a8f" /><Relationship Type="http://schemas.openxmlformats.org/officeDocument/2006/relationships/notesSlide" Target="/ppt/notesSlides/notesSlide10.xml" Id="R3781ce7ff96c43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0d320e47a4c45" /><Relationship Type="http://schemas.openxmlformats.org/officeDocument/2006/relationships/notesSlide" Target="/ppt/notesSlides/notesSlide11.xml" Id="R7df30b21c67741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acd30b105412c" /><Relationship Type="http://schemas.openxmlformats.org/officeDocument/2006/relationships/notesSlide" Target="/ppt/notesSlides/notesSlide12.xml" Id="R5d09c7bc3e1d4c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E0579-CB94-45E1-909D-D09555B2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0DE53-49F2-4362-AE57-54DCBBB0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009F5-4028-4CA8-B34D-D0565288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04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280F3-F1DC-43BA-9038-237BD583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647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52DE8C"/>
                </a:solidFill>
                <a:latin typeface="Arial"/>
                <a:ea typeface="Arial"/>
                <a:cs typeface="Arial"/>
              </a:rPr>
              <a:t>Acompanhamento alimentar</a:t>
            </a:r>
          </a:p>
          <a:p xmlns:a="http://schemas.openxmlformats.org/drawingml/2006/main">
            <a:pPr>
              <a:defRPr sz="2925" b="0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52DE8C"/>
                </a:solidFill>
                <a:latin typeface="Arial"/>
                <a:ea typeface="Arial"/>
                <a:cs typeface="Arial"/>
              </a:rPr>
              <a:t>com inteligência artificial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1A3EF-0E40-4BE6-946D-AB4F4576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Apresentação do projeto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93e1dcf014ac8"/>
          <a:stretch xmlns:a="http://schemas.openxmlformats.org/drawingml/2006/main"/>
        </p:blipFill>
        <p:spPr>
          <a:xfrm xmlns:a="http://schemas.openxmlformats.org/drawingml/2006/main">
            <a:off x="7667625" y="1181100"/>
            <a:ext cx="3905250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90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78616-B888-4EB2-8917-D5801C6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472B6-8B6B-4505-9AEF-67010503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C1E4B-DEEF-44BF-8BF0-3411D0F8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O desafio do registro alimentar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B9FFE-AD41-4A51-AE6A-BDA82CDE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Manter o diário atualizado</a:t>
            </a:r>
          </a:p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exige atenção todos os dias.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74A66-2731-4161-A7A4-904755CA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Identificar os alimentos e estimar as porções leva tempo.</a:t>
            </a:r>
          </a:p>
          <a:p xmlns:a="http://schemas.openxmlformats.org/drawingml/2006/main">
            <a:pPr>
              <a:defRPr sz="2100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Sem um histórico organizado, fica mais difícil acompanhar a rotina.</a:t>
            </a:r>
          </a:p>
        </p:txBody>
      </p:sp>
    </p:spTree>
    <p:extLst>
      <p:ext uri="{BB962C8B-B14F-4D97-AF65-F5344CB8AC3E}">
        <p14:creationId xmlns:p14="http://schemas.microsoft.com/office/powerpoint/2010/main" val="1951454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9682D-FAF0-427F-9C0D-046D836B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E346D-2C8A-4B76-9FF6-113715B9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AB9C3-B26A-4B1F-B233-C78E24B8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A rotina em uma tela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1D435-CE96-43A7-9522-32BC3A8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Diário alimentar e hidratação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28A97-21CE-456D-B73F-39C8679D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Calorias e macronutrientes do dia.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Refeições organizadas no histórico.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Registro do consumo de água.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6cd5697c34789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087B5-F55B-4ADC-BF88-63556EC4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2146130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1D36D-9741-4BBF-BCD0-42EE57E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5606-2815-4BC1-BE48-7A16CAC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69AA9-5911-48C3-B6F6-4B73EB55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Registro por imagem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C9092-A923-47AD-BC08-B51443E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Câmera, webcam ou galeria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04A0D-5500-4BDA-A2B6-9E4AF7E2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imagem segue para análise pelo backend.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IA sugere alimentos, porções e macros.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9ebf866d74b26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7A763-3329-493E-923A-F48C5831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1273768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CB096-2918-403F-BA24-0D81F6F3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BFE8A-8421-4CDC-BB60-51313895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251A6-C63A-4FAE-BDEA-D64B2054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Revisão antes de salvar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BDDD3-E3D3-49E7-B62F-2151CE8F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O usuário confirma a estimativa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995AC-869F-4B31-A1BF-B2913CCE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Ingredientes e porções podem ser ajustados.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refeição confirmada entra no diário.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Os valores da IA são estimativas.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f8efdb88a49cd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66D14-D408-4464-BA84-3C47F18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56281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6DD0E-C177-49F5-BABC-344BFD5D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B8965-E73C-4C73-9C2A-8446FA93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45F6D-0034-4C20-9578-8C4947BC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Metas ligadas ao perfil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D3316-6BDC-4B0E-866A-95563509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Um plano para acompanhar o 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D5EAD-1C82-4682-BD50-7936EE2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Perfil e objetivo orientam os cálculos.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Metas de energia, macros e água.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Atualização pela edição do perfil.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ae5700ea44da0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09CB4-DB74-4BC0-A77B-E225D6FC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1128911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0E548-28AA-4866-85B6-8E544001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3CCDD-5A71-4AAC-BD88-F2EF3468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605F4-63F4-4620-9FD2-93948ABA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Evolução ao longo do tempo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D2C46-750B-4E62-8DD8-F3560D25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O histórico dá contexto ao 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65FCC-0352-4001-BD52-F28470A1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Visões por semana, mês e três meses.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Médias e distribuição de macronutrientes.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Acompanhamento da frequência de registros.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812ea6af04328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23F79-47AB-49B9-BB44-55C2A841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5382422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0D846-12B2-45A7-A951-0F6E756E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0393A-C3D3-496B-98F8-BD03DEA3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FEE82-AD5C-499A-B530-3AFC8AB8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Assistente dentro do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C1628-89CA-4E4C-A1CA-0F0196F7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Uma conversa sobre alimentação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6797B-F537-49E4-9B51-D51847AE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Dúvidas sobre alimentos e receitas.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Sugestões e estimativas por texto.</a:t>
            </a:r>
          </a:p>
          <a:p xmlns:a="http://schemas.openxmlformats.org/drawingml/2006/main">
            <a:pPr>
              <a:defRPr sz="19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Histórico durante a conversa.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b3caf0ebd4b7b"/>
          <a:stretch xmlns:a="http://schemas.openxmlformats.org/drawingml/2006/main"/>
        </p:blipFill>
        <p:spPr>
          <a:xfrm xmlns:a="http://schemas.openxmlformats.org/drawingml/2006/main">
            <a:off x="7525120" y="523875"/>
            <a:ext cx="2780559" cy="5819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6517F-3DB4-45BC-B491-DC4BFB86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19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 do aplicativo com dados de exemplo</a:t>
            </a:r>
          </a:p>
        </p:txBody>
      </p:sp>
    </p:spTree>
    <p:extLst>
      <p:ext uri="{BB962C8B-B14F-4D97-AF65-F5344CB8AC3E}">
        <p14:creationId xmlns:p14="http://schemas.microsoft.com/office/powerpoint/2010/main" val="9495955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238C0-DEB5-452F-B2D9-D6502824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491BB-674D-40E5-8622-CB8F4D77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8C276-6C94-4122-A537-49E9F6A5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Arquitetura do projeto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0C341-67E5-42C4-88CB-E2FA69AE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431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Aplicativo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35B0E-54DA-40AA-9A77-CC34CC64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React Native, Expo e TypeScript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853AE-72CC-4DEA-A004-7BF5E2EE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1462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Interface mobile e web com Expo Router.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70F62-92CB-4296-A3D9-B9D540B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76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7F180-FCC1-4F39-A603-C9D96AC6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766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Node.js e Express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1A8F3-A703-4808-9E67-771EDCFD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480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Autenticação, validação e integração com a 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8BB3B-752C-446A-99A2-57B3BBE6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100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E189A-291C-4D4D-A427-5E47335C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00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D8645-2AB8-4B80-91D7-6F194069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8152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Perfil, metas, refeições, ingredientes e água.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C4C05-5968-49C1-863F-9B0059AC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43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Inteligência artificial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95CC8-42DD-4622-90EA-A4CB024D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435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Google Gemini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FAF82-48FB-459A-94C9-F2BA3A6A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149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5A"/>
                </a:solidFill>
                <a:latin typeface="Arial"/>
                <a:ea typeface="Arial"/>
                <a:cs typeface="Arial"/>
              </a:rPr>
              <a:t>Análise de imagens e respostas do chat.</a:t>
            </a:r>
          </a:p>
        </p:txBody>
      </p:sp>
    </p:spTree>
    <p:extLst>
      <p:ext uri="{BB962C8B-B14F-4D97-AF65-F5344CB8AC3E}">
        <p14:creationId xmlns:p14="http://schemas.microsoft.com/office/powerpoint/2010/main" val="264938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2DC24-A4A6-451B-9EAE-D9D192D3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3123B-6E34-4507-A78C-0DB73221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58425-2296-4BE1-AFC2-DE7E1687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Dados e acesso por conta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37BD4-7886-4979-8DCA-455BB8B8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Conta pessoal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37A62-4038-4B4B-BB45-E724630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Cadastro, login e sessões.</a:t>
            </a:r>
          </a:p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Senhas protegidas por hash com salt.</a:t>
            </a:r>
          </a:p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Registros vinculados ao usuário.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E1F46-4999-4DD1-9EBC-3C66424E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Serviços no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998D8-1136-4CD4-9F7E-788DDEC0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5000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API intermedeia o acesso ao banco.</a:t>
            </a:r>
          </a:p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A integração Gemini usa chave no servidor.</a:t>
            </a:r>
          </a:p>
          <a:p xmlns:a="http://schemas.openxmlformats.org/drawingml/2006/main">
            <a:pPr>
              <a:defRPr sz="2025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Telas de diagnóstico ajudam na operação.</a:t>
            </a:r>
          </a:p>
        </p:txBody>
      </p:sp>
    </p:spTree>
    <p:extLst>
      <p:ext uri="{BB962C8B-B14F-4D97-AF65-F5344CB8AC3E}">
        <p14:creationId xmlns:p14="http://schemas.microsoft.com/office/powerpoint/2010/main" val="1421072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24C1E-AB08-47CB-8B92-FDC51A25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8B83F-4935-43DE-B405-228535DF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1EB0F-3734-41B1-8C88-428F76F1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91C"/>
                </a:solidFill>
                <a:latin typeface="Arial"/>
                <a:ea typeface="Arial"/>
                <a:cs typeface="Arial"/>
              </a:rPr>
              <a:t>Estágio atual e próximos passos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BDBD2-A01D-46B6-BCBA-D369B179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Implementado no projeto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C16E4-313F-48AF-AF5B-8AA0BA16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5238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Registro por imagem e revisão.</a:t>
            </a:r>
          </a:p>
          <a:p xmlns:a="http://schemas.openxmlformats.org/drawingml/2006/main">
            <a:pPr>
              <a:defRPr sz="2025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Diário, água, metas e análises.</a:t>
            </a:r>
          </a:p>
          <a:p xmlns:a="http://schemas.openxmlformats.org/drawingml/2006/main">
            <a:pPr>
              <a:defRPr sz="2025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Chat e autenticação com banco.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4C158-FABC-410D-B093-E915493E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88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884B"/>
                </a:solidFill>
                <a:latin typeface="Arial"/>
                <a:ea typeface="Arial"/>
                <a:cs typeface="Arial"/>
              </a:rPr>
              <a:t>Próximos passos propostos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68DD1-462D-4E80-BCE7-F88EC976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50958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Validar a experiência com usuários.</a:t>
            </a:r>
          </a:p>
          <a:p xmlns:a="http://schemas.openxmlformats.org/drawingml/2006/main">
            <a:pPr>
              <a:defRPr sz="2025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Avaliar as estimativas da IA.</a:t>
            </a:r>
          </a:p>
          <a:p xmlns:a="http://schemas.openxmlformats.org/drawingml/2006/main">
            <a:pPr>
              <a:defRPr sz="2025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Testar persistência e falhas de rede.</a:t>
            </a:r>
          </a:p>
          <a:p xmlns:a="http://schemas.openxmlformats.org/drawingml/2006/main">
            <a:pPr>
              <a:defRPr sz="2025" b="0">
                <a:solidFill>
                  <a:srgbClr val="10291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91C"/>
                </a:solidFill>
                <a:latin typeface="Arial"/>
                <a:ea typeface="Arial"/>
                <a:cs typeface="Arial"/>
              </a:rPr>
              <a:t>Concluir validação da distribuição.</a:t>
            </a:r>
          </a:p>
        </p:txBody>
      </p:sp>
    </p:spTree>
    <p:extLst>
      <p:ext uri="{BB962C8B-B14F-4D97-AF65-F5344CB8AC3E}">
        <p14:creationId xmlns:p14="http://schemas.microsoft.com/office/powerpoint/2010/main" val="1057600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0FA72-1BFC-4191-9EDF-E9D89EBD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DE8C"/>
                </a:solidFill>
                <a:latin typeface="Arial"/>
                <a:ea typeface="Arial"/>
                <a:cs typeface="Arial"/>
              </a:rPr>
              <a:t>CALORIQ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F7FF9-76BD-4541-8848-F7A2676E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AAF52-0251-40A0-B7B6-F964A3AD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CaloriQ em 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2FC48-26B6-4D24-938A-CA225366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Uma refeição como</a:t>
            </a:r>
          </a:p>
          <a:p xmlns:a="http://schemas.openxmlformats.org/drawingml/2006/main">
            <a:pPr>
              <a:defRPr sz="4800" b="1">
                <a:solidFill>
                  <a:srgbClr val="F4F7F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4F7F3"/>
                </a:solidFill>
                <a:latin typeface="Arial"/>
                <a:ea typeface="Arial"/>
                <a:cs typeface="Arial"/>
              </a:rPr>
              <a:t>ponto de partida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60876-2346-4E88-877C-F88341AF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DE8C"/>
                </a:solidFill>
                <a:latin typeface="Arial"/>
                <a:ea typeface="Arial"/>
                <a:cs typeface="Arial"/>
              </a:rPr>
              <a:t>Registrar uma imagem. Revisar a estimativa.</a:t>
            </a:r>
          </a:p>
          <a:p xmlns:a="http://schemas.openxmlformats.org/drawingml/2006/main">
            <a:pPr>
              <a:defRPr sz="2400" b="0">
                <a:solidFill>
                  <a:srgbClr val="52DE8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DE8C"/>
                </a:solidFill>
                <a:latin typeface="Arial"/>
                <a:ea typeface="Arial"/>
                <a:cs typeface="Arial"/>
              </a:rPr>
              <a:t>Salvar a refeição e acompanhar o diário.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59CBB-893F-44C8-8DDC-8768F2D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4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C4BC"/>
                </a:solidFill>
                <a:latin typeface="Arial"/>
                <a:ea typeface="Arial"/>
                <a:cs typeface="Arial"/>
              </a:rPr>
              <a:t>Demonstração e perguntas</a:t>
            </a:r>
          </a:p>
        </p:txBody>
      </p:sp>
    </p:spTree>
    <p:extLst>
      <p:ext uri="{BB962C8B-B14F-4D97-AF65-F5344CB8AC3E}">
        <p14:creationId xmlns:p14="http://schemas.microsoft.com/office/powerpoint/2010/main" val="1997460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2026-09-20T23:23:22.9490000Z</dcterms:created>
  <dcterms:modified xsi:type="dcterms:W3CDTF">2026-09-20T23:23:22.9490000Z</dcterms:modified>
</coreProperties>
</file>